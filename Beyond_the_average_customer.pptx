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3973E0-7155-48B9-9A45-CAAE6C4BF10A}" v="8" dt="2026-04-27T17:14:24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2A0-4663-8201-6F6B7153B02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2A0-4663-8201-6F6B7153B02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2A0-4663-8201-6F6B7153B02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2A0-4663-8201-6F6B7153B02E}"/>
              </c:ext>
            </c:extLst>
          </c:dPt>
          <c:dPt>
            <c:idx val="4"/>
            <c:invertIfNegative val="0"/>
            <c:bubble3D val="0"/>
            <c:spPr>
              <a:solidFill>
                <a:srgbClr val="E05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2A0-4663-8201-6F6B7153B02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18–30</c:v>
                </c:pt>
                <c:pt idx="1">
                  <c:v>31–40</c:v>
                </c:pt>
                <c:pt idx="2">
                  <c:v>41–50</c:v>
                </c:pt>
                <c:pt idx="3">
                  <c:v>51–65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12.8</c:v>
                </c:pt>
                <c:pt idx="2">
                  <c:v>11.3</c:v>
                </c:pt>
                <c:pt idx="3">
                  <c:v>14.9</c:v>
                </c:pt>
                <c:pt idx="4">
                  <c:v>43.1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2A0-4663-8201-6F6B7153B0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D6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Balance (£)</c:v>
                </c:pt>
              </c:strCache>
            </c:strRef>
          </c:tx>
          <c:spPr>
            <a:solidFill>
              <a:srgbClr val="E05A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88-48BD-AB58-97471067F623}"/>
              </c:ext>
            </c:extLst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88-48BD-AB58-97471067F62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Did Not Convert</c:v>
                </c:pt>
                <c:pt idx="1">
                  <c:v>Converted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429</c:v>
                </c:pt>
                <c:pt idx="1">
                  <c:v>757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88-48BD-AB58-97471067F6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3A4-4168-A6DA-F9FEBF05A7B0}"/>
              </c:ext>
            </c:extLst>
          </c:dPt>
          <c:dPt>
            <c:idx val="1"/>
            <c:invertIfNegative val="0"/>
            <c:bubble3D val="0"/>
            <c:spPr>
              <a:solidFill>
                <a:srgbClr val="E05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A4-4168-A6DA-F9FEBF05A7B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Loan</c:v>
                </c:pt>
                <c:pt idx="1">
                  <c:v>Has Loan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15.9</c:v>
                </c:pt>
                <c:pt idx="1">
                  <c:v>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A4-4168-A6DA-F9FEBF05A7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6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E1BFB-6146-4E3A-BA7F-625F1EC4B780}" type="datetimeFigureOut"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42926-6E1A-4BBB-9355-7633C236CF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5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389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CUSTOMER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Conversion in Bank Marketing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109728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3375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Ayoola </a:t>
            </a:r>
            <a:r>
              <a:rPr lang="en-US" sz="1200" b="1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Ososanya</a:t>
            </a:r>
            <a:endParaRPr lang="en-US" sz="1200" dirty="0" err="1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Graduate  |  Data Analytics Portfolio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Bank Marketing  |  n = 30,905 customers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203200" rIns="2032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 profiles and behaviours predict conversion to a term deposit, and what does that tell us about how a fintech should prioritise its outreach?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715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31720"/>
            <a:ext cx="2715768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28163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job, education,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5848" y="2331720"/>
            <a:ext cx="2715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2331720"/>
            <a:ext cx="2715768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8163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Financial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loans,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history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2331720"/>
            <a:ext cx="271576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2331720"/>
            <a:ext cx="2715768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19088" y="28163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9088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logistic regression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Customers?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Age Group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4023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234440"/>
            <a:ext cx="3840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234440"/>
            <a:ext cx="64008" cy="11155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325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43.1%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02920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conversion rate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highest of any group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2532888"/>
            <a:ext cx="3840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532888"/>
            <a:ext cx="64008" cy="11155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624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029200" y="3081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18–30 conversion rate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second highest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3831336"/>
            <a:ext cx="3840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3831336"/>
            <a:ext cx="64008" cy="111556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39227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11–13%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029200" y="43799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31–50 age group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where most budget goes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Picture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Balance: Converters vs Non-Converters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4023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Loan Status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7200" y="4041648"/>
          <a:ext cx="402336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846320" y="1234440"/>
            <a:ext cx="384048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Wise Wendy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ideal term deposit customer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0" y="2212848"/>
            <a:ext cx="164592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21808" y="2176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25–40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0" y="2615184"/>
            <a:ext cx="164592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321808" y="2578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management or a technical role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0" y="3017520"/>
            <a:ext cx="164592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21808" y="2980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between £1,500 and £3,500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0" y="3419856"/>
            <a:ext cx="164592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21808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personal loan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0" y="3822192"/>
            <a:ext cx="164592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21808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defaulted on a payment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0" y="4224528"/>
            <a:ext cx="164592" cy="1645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21808" y="4187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or tertiary educated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0" y="46177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campaign should start with Wendy in mind.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Conversion?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from logistic regression model  |  Blue = increases conversion likelihood   Red = decreases 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CONVERSION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77363" cy="2743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013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campaign success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994867" cy="2743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585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month: March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936346" cy="2743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157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month: June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77824" cy="2743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729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month: October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99846" cy="2743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301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Student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85216" cy="27432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873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previously contacted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CONVERSION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46320" y="1783080"/>
            <a:ext cx="2340864" cy="274320"/>
          </a:xfrm>
          <a:prstGeom prst="rect">
            <a:avLst/>
          </a:prstGeom>
          <a:solidFill>
            <a:srgbClr val="E05A5A">
              <a:alpha val="80000"/>
            </a:srgbClr>
          </a:solidFill>
          <a:ln w="12700">
            <a:solidFill>
              <a:srgbClr val="E05A5A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801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month: November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240280"/>
            <a:ext cx="2253082" cy="274320"/>
          </a:xfrm>
          <a:prstGeom prst="rect">
            <a:avLst/>
          </a:prstGeom>
          <a:solidFill>
            <a:srgbClr val="E05A5A">
              <a:alpha val="80000"/>
            </a:srgbClr>
          </a:solidFill>
          <a:ln w="12700">
            <a:solidFill>
              <a:srgbClr val="E05A5A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585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month: August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697480"/>
            <a:ext cx="1931213" cy="274320"/>
          </a:xfrm>
          <a:prstGeom prst="rect">
            <a:avLst/>
          </a:prstGeom>
          <a:solidFill>
            <a:srgbClr val="E05A5A">
              <a:alpha val="80000"/>
            </a:srgbClr>
          </a:solidFill>
          <a:ln w="12700">
            <a:solidFill>
              <a:srgbClr val="E05A5A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715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housing loan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154680"/>
            <a:ext cx="1697126" cy="274320"/>
          </a:xfrm>
          <a:prstGeom prst="rect">
            <a:avLst/>
          </a:prstGeom>
          <a:solidFill>
            <a:srgbClr val="E05A5A">
              <a:alpha val="80000"/>
            </a:srgbClr>
          </a:solidFill>
          <a:ln w="12700">
            <a:solidFill>
              <a:srgbClr val="E05A5A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1729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month: January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611880"/>
            <a:ext cx="1638605" cy="274320"/>
          </a:xfrm>
          <a:prstGeom prst="rect">
            <a:avLst/>
          </a:prstGeom>
          <a:solidFill>
            <a:srgbClr val="E05A5A">
              <a:alpha val="80000"/>
            </a:srgbClr>
          </a:solidFill>
          <a:ln w="12700">
            <a:solidFill>
              <a:srgbClr val="E05A5A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301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personal loan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4069080"/>
            <a:ext cx="907085" cy="274320"/>
          </a:xfrm>
          <a:prstGeom prst="rect">
            <a:avLst/>
          </a:prstGeom>
          <a:solidFill>
            <a:srgbClr val="E05A5A">
              <a:alpha val="80000"/>
            </a:srgbClr>
          </a:solidFill>
          <a:ln w="12700">
            <a:solidFill>
              <a:srgbClr val="E05A5A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4087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via telephone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EEF2FF"/>
          </a:solidFill>
          <a:ln w="12700">
            <a:solidFill>
              <a:srgbClr val="D6D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7183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Logistic Regression  |  Class-balanced weighting  |  Recall (converters): 59%  |  Test set: 6,181 customers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 for the Strategy &amp; Marketing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4023360" cy="1051560"/>
          </a:xfrm>
          <a:prstGeom prst="rect">
            <a:avLst/>
          </a:prstGeom>
          <a:solidFill>
            <a:srgbClr val="253480"/>
          </a:solidFill>
          <a:ln w="12700">
            <a:solidFill>
              <a:srgbClr val="2E3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355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previously converted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strongest predictor of conversion. Target them first in every future campaign.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4023360" cy="1051560"/>
          </a:xfrm>
          <a:prstGeom prst="rect">
            <a:avLst/>
          </a:prstGeom>
          <a:solidFill>
            <a:srgbClr val="253480"/>
          </a:solidFill>
          <a:ln w="12700">
            <a:solidFill>
              <a:srgbClr val="2E3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50592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" y="25603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355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campaigns in March, June, September &amp; October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926080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August and November. Timing alone can significantly shift conversion rates.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4023360" cy="1051560"/>
          </a:xfrm>
          <a:prstGeom prst="rect">
            <a:avLst/>
          </a:prstGeom>
          <a:solidFill>
            <a:srgbClr val="253480"/>
          </a:solidFill>
          <a:ln w="12700">
            <a:solidFill>
              <a:srgbClr val="2E3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39312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" y="37490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355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age targeting to 18–30 and 65+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4114800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groups convert at 20% and 43.1% respectively. The 31–50 majority converts at 11–13%.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61872"/>
            <a:ext cx="4023360" cy="1051560"/>
          </a:xfrm>
          <a:prstGeom prst="rect">
            <a:avLst/>
          </a:prstGeom>
          <a:solidFill>
            <a:srgbClr val="253480"/>
          </a:solidFill>
          <a:ln w="12700">
            <a:solidFill>
              <a:srgbClr val="2E3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261872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28032" y="13716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355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Deprioritise customers with existing loans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1737360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holders convert at half the rate of those without financial commitments.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450592"/>
            <a:ext cx="4023360" cy="1051560"/>
          </a:xfrm>
          <a:prstGeom prst="rect">
            <a:avLst/>
          </a:prstGeom>
          <a:solidFill>
            <a:srgbClr val="253480"/>
          </a:solidFill>
          <a:ln w="12700">
            <a:solidFill>
              <a:srgbClr val="2E3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450592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28032" y="25603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355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every campaign around Wise Wendy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2926080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25–40, balance £1,500–£3,500, no loans, never defaulted. She is your most reliable converter.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DB5"/>
                </a:solidFill>
                <a:latin typeface="Calibri"/>
                <a:ea typeface="Calibri"/>
                <a:cs typeface="Calibri"/>
              </a:rPr>
              <a:t>Ayoola </a:t>
            </a:r>
            <a:r>
              <a:rPr lang="en-US" sz="900" dirty="0" err="1">
                <a:solidFill>
                  <a:srgbClr val="7A8DB5"/>
                </a:solidFill>
                <a:latin typeface="Calibri"/>
                <a:ea typeface="Calibri"/>
                <a:cs typeface="Calibri"/>
              </a:rPr>
              <a:t>Ososanya</a:t>
            </a:r>
            <a:r>
              <a:rPr lang="en-US" sz="900" dirty="0">
                <a:solidFill>
                  <a:srgbClr val="7A8DB5"/>
                </a:solidFill>
                <a:latin typeface="Calibri"/>
                <a:ea typeface="Calibri"/>
                <a:cs typeface="Calibri"/>
              </a:rPr>
              <a:t>  |  github.com/</a:t>
            </a:r>
            <a:r>
              <a:rPr lang="en-US" sz="900" dirty="0" err="1">
                <a:solidFill>
                  <a:srgbClr val="7A8DB5"/>
                </a:solidFill>
                <a:latin typeface="Calibri"/>
                <a:ea typeface="Calibri"/>
                <a:cs typeface="Calibri"/>
              </a:rPr>
              <a:t>ayoososanya</a:t>
            </a:r>
            <a:r>
              <a:rPr lang="en-US" sz="900" dirty="0">
                <a:solidFill>
                  <a:srgbClr val="7A8DB5"/>
                </a:solidFill>
                <a:latin typeface="Calibri"/>
                <a:ea typeface="Calibri"/>
                <a:cs typeface="Calibri"/>
              </a:rPr>
              <a:t>  |  ayoososanya.github.io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Average Customer</dc:title>
  <dc:subject>PptxGenJS Presentation</dc:subject>
  <dc:creator>Ayoola Sosanya</dc:creator>
  <cp:lastModifiedBy>Ayoola Sosanya</cp:lastModifiedBy>
  <cp:revision>7</cp:revision>
  <dcterms:created xsi:type="dcterms:W3CDTF">2026-04-27T16:57:41Z</dcterms:created>
  <dcterms:modified xsi:type="dcterms:W3CDTF">2026-04-27T17:14:26Z</dcterms:modified>
</cp:coreProperties>
</file>