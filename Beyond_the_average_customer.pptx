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 Rate (%)</c:v>
                </c:pt>
              </c:strCache>
            </c:strRef>
          </c:tx>
          <c:spPr>
            <a:solidFill>
              <a:srgbClr val="4A90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90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90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90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90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05A5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18–30</c:v>
                  </c:pt>
                  <c:pt idx="1">
                    <c:v>31–40</c:v>
                  </c:pt>
                  <c:pt idx="2">
                    <c:v>41–50</c:v>
                  </c:pt>
                  <c:pt idx="3">
                    <c:v>51–65</c:v>
                  </c:pt>
                  <c:pt idx="4">
                    <c:v>65+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12.8</c:v>
                </c:pt>
                <c:pt idx="2">
                  <c:v>11.3</c:v>
                </c:pt>
                <c:pt idx="3">
                  <c:v>14.9</c:v>
                </c:pt>
                <c:pt idx="4">
                  <c:v>43.1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6350" cap="flat">
              <a:solidFill>
                <a:srgbClr val="D6D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6F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Balance (£)</c:v>
                </c:pt>
              </c:strCache>
            </c:strRef>
          </c:tx>
          <c:spPr>
            <a:solidFill>
              <a:srgbClr val="E05A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5A5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90D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Did Not Convert</c:v>
                  </c:pt>
                  <c:pt idx="1">
                    <c:v>Converted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429</c:v>
                </c:pt>
                <c:pt idx="1">
                  <c:v>757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D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6FB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 Rate (%)</c:v>
                </c:pt>
              </c:strCache>
            </c:strRef>
          </c:tx>
          <c:spPr>
            <a:solidFill>
              <a:srgbClr val="4A90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90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5A5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No Loan</c:v>
                  </c:pt>
                  <c:pt idx="1">
                    <c:v>Has Loan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15.9</c:v>
                </c:pt>
                <c:pt idx="1">
                  <c:v>7.9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6D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6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253480"/>
          </a:solidFill>
          <a:ln w="12700">
            <a:solidFill>
              <a:srgbClr val="2534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0"/>
            <a:ext cx="1097280" cy="5143500"/>
          </a:xfrm>
          <a:prstGeom prst="rect">
            <a:avLst/>
          </a:prstGeom>
          <a:solidFill>
            <a:srgbClr val="4A90D9">
              <a:alpha val="40000"/>
            </a:srgbClr>
          </a:solidFill>
          <a:ln w="12700">
            <a:solidFill>
              <a:srgbClr val="4A90D9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389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CUSTOMER ANALYSIS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Customer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26517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Conversion in Bank Marketing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3154680"/>
            <a:ext cx="1097280" cy="54864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3375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Ayoola Sosanya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 Graduate  |  Data Analytics Portfolio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UCI Bank Marketing  |  n = 30,905 customers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set out to answer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8229600" cy="8686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344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customer profiles and behaviours predict conversion to a term deposit, and what does that tell us about how a fintech should prioritise its outreach?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271576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331720"/>
            <a:ext cx="2715768" cy="73152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1792" y="28163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Are Our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1792" y="3566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job, education,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5848" y="2331720"/>
            <a:ext cx="271576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5848" y="2331720"/>
            <a:ext cx="2715768" cy="73152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02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20440" y="28163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Financial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520440" y="3566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Balance, loans,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history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2331720"/>
            <a:ext cx="271576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4496" y="2331720"/>
            <a:ext cx="2715768" cy="73152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9088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03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19088" y="28163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Predicts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Conversion?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19088" y="3566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testing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logistic regression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01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Are Our Customers?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 by Age Group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554480"/>
          <a:ext cx="40233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846320" y="1234440"/>
            <a:ext cx="38404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846320" y="1234440"/>
            <a:ext cx="64008" cy="11155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0" y="13258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43.1%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02920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65+ conversion rate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highest of any group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46320" y="2532888"/>
            <a:ext cx="38404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46320" y="2532888"/>
            <a:ext cx="64008" cy="11155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0" y="26243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5029200" y="30815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18–30 conversion rate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second highest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846320" y="3831336"/>
            <a:ext cx="38404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846320" y="3831336"/>
            <a:ext cx="64008" cy="1115568"/>
          </a:xfrm>
          <a:prstGeom prst="rect">
            <a:avLst/>
          </a:prstGeom>
          <a:solidFill>
            <a:srgbClr val="E05A5A"/>
          </a:solidFill>
          <a:ln w="12700">
            <a:solidFill>
              <a:srgbClr val="E05A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0" y="392277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11–13%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029200" y="437997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31–50 age group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where most budget goes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Financial Picture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Balance: Converters vs Non-Converters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554480"/>
          <a:ext cx="40233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7490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 by Loan Status</a:t>
            </a:r>
            <a:endParaRPr lang="en-US" sz="12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457200" y="4041648"/>
          <a:ext cx="4023360" cy="914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4846320" y="1234440"/>
            <a:ext cx="3840480" cy="3657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5029200" y="1417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Wise Wendy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029200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ideal term deposit customer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029200" y="2212848"/>
            <a:ext cx="164592" cy="164592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321808" y="21762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25–40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029200" y="2615184"/>
            <a:ext cx="164592" cy="164592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321808" y="25786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management or a technical role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029200" y="3017520"/>
            <a:ext cx="164592" cy="164592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321808" y="2980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between £1,500 and £3,500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029200" y="3419856"/>
            <a:ext cx="164592" cy="164592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321808" y="33832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personal loan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029200" y="3822192"/>
            <a:ext cx="164592" cy="164592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321808" y="37856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defaulted on a payment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029200" y="4224528"/>
            <a:ext cx="164592" cy="164592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321808" y="41879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or tertiary educated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029200" y="461772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campaign should start with Wendy in mind.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Predicts Conversion?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155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features from logistic regression model  |  Blue = increases conversion likelihood   Red = decreases it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CONVERSION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2677363" cy="274320"/>
          </a:xfrm>
          <a:prstGeom prst="rect">
            <a:avLst/>
          </a:prstGeom>
          <a:solidFill>
            <a:srgbClr val="4A90D9">
              <a:alpha val="80000"/>
            </a:srgbClr>
          </a:solidFill>
          <a:ln w="12700">
            <a:solidFill>
              <a:srgbClr val="4A90D9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0136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campaign success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994867" cy="274320"/>
          </a:xfrm>
          <a:prstGeom prst="rect">
            <a:avLst/>
          </a:prstGeom>
          <a:solidFill>
            <a:srgbClr val="4A90D9">
              <a:alpha val="80000"/>
            </a:srgbClr>
          </a:solidFill>
          <a:ln w="12700">
            <a:solidFill>
              <a:srgbClr val="4A90D9">
                <a:alpha val="8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25856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month: March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936346" cy="274320"/>
          </a:xfrm>
          <a:prstGeom prst="rect">
            <a:avLst/>
          </a:prstGeom>
          <a:solidFill>
            <a:srgbClr val="4A90D9">
              <a:alpha val="80000"/>
            </a:srgbClr>
          </a:solidFill>
          <a:ln w="12700">
            <a:solidFill>
              <a:srgbClr val="4A90D9">
                <a:alpha val="8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71576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month: June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77824" cy="274320"/>
          </a:xfrm>
          <a:prstGeom prst="rect">
            <a:avLst/>
          </a:prstGeom>
          <a:solidFill>
            <a:srgbClr val="4A90D9">
              <a:alpha val="80000"/>
            </a:srgbClr>
          </a:solidFill>
          <a:ln w="12700">
            <a:solidFill>
              <a:srgbClr val="4A90D9">
                <a:alpha val="8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17296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month: October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599846" cy="274320"/>
          </a:xfrm>
          <a:prstGeom prst="rect">
            <a:avLst/>
          </a:prstGeom>
          <a:solidFill>
            <a:srgbClr val="4A90D9">
              <a:alpha val="80000"/>
            </a:srgbClr>
          </a:solidFill>
          <a:ln w="12700">
            <a:solidFill>
              <a:srgbClr val="4A90D9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63016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Job: Student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585216" cy="274320"/>
          </a:xfrm>
          <a:prstGeom prst="rect">
            <a:avLst/>
          </a:prstGeom>
          <a:solidFill>
            <a:srgbClr val="4A90D9">
              <a:alpha val="80000"/>
            </a:srgbClr>
          </a:solidFill>
          <a:ln w="12700">
            <a:solidFill>
              <a:srgbClr val="4A90D9">
                <a:alpha val="8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408736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previously contacted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46320" y="14630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CONVERSION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846320" y="1783080"/>
            <a:ext cx="2340864" cy="274320"/>
          </a:xfrm>
          <a:prstGeom prst="rect">
            <a:avLst/>
          </a:prstGeom>
          <a:solidFill>
            <a:srgbClr val="E05A5A">
              <a:alpha val="80000"/>
            </a:srgbClr>
          </a:solidFill>
          <a:ln w="12700">
            <a:solidFill>
              <a:srgbClr val="E05A5A">
                <a:alpha val="8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8013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month: November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2240280"/>
            <a:ext cx="2253082" cy="274320"/>
          </a:xfrm>
          <a:prstGeom prst="rect">
            <a:avLst/>
          </a:prstGeom>
          <a:solidFill>
            <a:srgbClr val="E05A5A">
              <a:alpha val="80000"/>
            </a:srgbClr>
          </a:solidFill>
          <a:ln w="12700">
            <a:solidFill>
              <a:srgbClr val="E05A5A">
                <a:alpha val="8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22585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month: August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6320" y="2697480"/>
            <a:ext cx="1931213" cy="274320"/>
          </a:xfrm>
          <a:prstGeom prst="rect">
            <a:avLst/>
          </a:prstGeom>
          <a:solidFill>
            <a:srgbClr val="E05A5A">
              <a:alpha val="80000"/>
            </a:srgbClr>
          </a:solidFill>
          <a:ln w="12700">
            <a:solidFill>
              <a:srgbClr val="E05A5A">
                <a:alpha val="8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27157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housing loan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3154680"/>
            <a:ext cx="1697126" cy="274320"/>
          </a:xfrm>
          <a:prstGeom prst="rect">
            <a:avLst/>
          </a:prstGeom>
          <a:solidFill>
            <a:srgbClr val="E05A5A">
              <a:alpha val="80000"/>
            </a:srgbClr>
          </a:solidFill>
          <a:ln w="12700">
            <a:solidFill>
              <a:srgbClr val="E05A5A">
                <a:alpha val="8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31729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month: January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3611880"/>
            <a:ext cx="1638605" cy="274320"/>
          </a:xfrm>
          <a:prstGeom prst="rect">
            <a:avLst/>
          </a:prstGeom>
          <a:solidFill>
            <a:srgbClr val="E05A5A">
              <a:alpha val="80000"/>
            </a:srgbClr>
          </a:solidFill>
          <a:ln w="12700">
            <a:solidFill>
              <a:srgbClr val="E05A5A">
                <a:alpha val="8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36301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personal loan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4069080"/>
            <a:ext cx="907085" cy="274320"/>
          </a:xfrm>
          <a:prstGeom prst="rect">
            <a:avLst/>
          </a:prstGeom>
          <a:solidFill>
            <a:srgbClr val="E05A5A">
              <a:alpha val="80000"/>
            </a:srgbClr>
          </a:solidFill>
          <a:ln w="12700">
            <a:solidFill>
              <a:srgbClr val="E05A5A">
                <a:alpha val="8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40873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via telephone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solidFill>
            <a:srgbClr val="EEF2FF"/>
          </a:solidFill>
          <a:ln w="12700">
            <a:solidFill>
              <a:srgbClr val="D6DC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" y="4718304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Logistic Regression  |  Class-balanced weighting  |  Recall (converters): 59%  |  Test set: 6,181 customers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RECOMMENDATIONS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actions for the Strategy &amp; Marketing team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4023360" cy="1051560"/>
          </a:xfrm>
          <a:prstGeom prst="rect">
            <a:avLst/>
          </a:prstGeom>
          <a:solidFill>
            <a:srgbClr val="253480"/>
          </a:solidFill>
          <a:ln w="12700">
            <a:solidFill>
              <a:srgbClr val="2E3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61872"/>
            <a:ext cx="64008" cy="105156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353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21792" y="13716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35560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previously converted customers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1792" y="1737360"/>
            <a:ext cx="3767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strongest predictor of conversion. Target them first in every future campaign.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450592"/>
            <a:ext cx="4023360" cy="1051560"/>
          </a:xfrm>
          <a:prstGeom prst="rect">
            <a:avLst/>
          </a:prstGeom>
          <a:solidFill>
            <a:srgbClr val="253480"/>
          </a:solidFill>
          <a:ln w="12700">
            <a:solidFill>
              <a:srgbClr val="2E3D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450592"/>
            <a:ext cx="64008" cy="105156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5420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21792" y="25603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35560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campaigns in March, June, September &amp; October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" y="2926080"/>
            <a:ext cx="3767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August and November. Timing alone can significantly shift conversion rates.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639312"/>
            <a:ext cx="4023360" cy="1051560"/>
          </a:xfrm>
          <a:prstGeom prst="rect">
            <a:avLst/>
          </a:prstGeom>
          <a:solidFill>
            <a:srgbClr val="253480"/>
          </a:solidFill>
          <a:ln w="12700">
            <a:solidFill>
              <a:srgbClr val="2E3D8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639312"/>
            <a:ext cx="64008" cy="105156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37307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21792" y="3749040"/>
            <a:ext cx="3703320" cy="320040"/>
          </a:xfrm>
          <a:prstGeom prst="rect">
            <a:avLst/>
          </a:prstGeom>
          <a:noFill/>
          <a:ln/>
        </p:spPr>
        <p:txBody>
          <a:bodyPr wrap="square" lIns="0" tIns="35560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age targeting to 18–30 and 65+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" y="4114800"/>
            <a:ext cx="3767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groups convert at 20% and 43.1% respectively. The 31–50 majority converts at 11–13%.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1261872"/>
            <a:ext cx="4023360" cy="1051560"/>
          </a:xfrm>
          <a:prstGeom prst="rect">
            <a:avLst/>
          </a:prstGeom>
          <a:solidFill>
            <a:srgbClr val="253480"/>
          </a:solidFill>
          <a:ln w="12700">
            <a:solidFill>
              <a:srgbClr val="2E3D8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1261872"/>
            <a:ext cx="64008" cy="105156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28032" y="1353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828032" y="13716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35560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Deprioritise customers with existing loans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28032" y="1737360"/>
            <a:ext cx="3767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holders convert at half the rate of those without financial commitments.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63440" y="2450592"/>
            <a:ext cx="4023360" cy="1051560"/>
          </a:xfrm>
          <a:prstGeom prst="rect">
            <a:avLst/>
          </a:prstGeom>
          <a:solidFill>
            <a:srgbClr val="253480"/>
          </a:solidFill>
          <a:ln w="12700">
            <a:solidFill>
              <a:srgbClr val="2E3D8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63440" y="2450592"/>
            <a:ext cx="64008" cy="105156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8032" y="25420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828032" y="25603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35560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every campaign around Wise Wendy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28032" y="2926080"/>
            <a:ext cx="3767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Aged 25–40, balance £1,500–£3,500, no loans, never defaulted. She is your most reliable converter.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8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Ayoola Sosanya  |  github.com/ayoososanya  |  ayoososanya.github.io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the Average Customer</dc:title>
  <dc:subject>PptxGenJS Presentation</dc:subject>
  <dc:creator>Ayoola Sosanya</dc:creator>
  <cp:lastModifiedBy>Ayoola Sosanya</cp:lastModifiedBy>
  <cp:revision>1</cp:revision>
  <dcterms:created xsi:type="dcterms:W3CDTF">2026-04-27T16:57:41Z</dcterms:created>
  <dcterms:modified xsi:type="dcterms:W3CDTF">2026-04-27T16:57:41Z</dcterms:modified>
</cp:coreProperties>
</file>